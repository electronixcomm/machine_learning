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4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00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8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6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0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1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9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7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4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0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1270C-C58E-4FCF-B453-A737D874F744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B553B-205E-4EDE-A975-1C5DE175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5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Bias and Variance</a:t>
            </a:r>
            <a:br>
              <a:rPr lang="en-US" dirty="0" smtClean="0"/>
            </a:br>
            <a:r>
              <a:rPr lang="en-US" dirty="0" smtClean="0"/>
              <a:t>K fold VS LOO</a:t>
            </a:r>
            <a:br>
              <a:rPr lang="en-US" dirty="0" smtClean="0"/>
            </a:br>
            <a:r>
              <a:rPr lang="en-US" dirty="0" smtClean="0"/>
              <a:t>Bootstrap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 as the error between average model prediction and the ground truth</a:t>
            </a:r>
            <a:r>
              <a:rPr lang="en-US" dirty="0" smtClean="0"/>
              <a:t>.</a:t>
            </a:r>
          </a:p>
          <a:p>
            <a:pPr lvl="1" fontAlgn="base"/>
            <a:r>
              <a:rPr lang="en-US" dirty="0"/>
              <a:t>A model with a higher bias would not match the data set closely.</a:t>
            </a:r>
          </a:p>
          <a:p>
            <a:pPr lvl="1" fontAlgn="base"/>
            <a:r>
              <a:rPr lang="en-US" dirty="0"/>
              <a:t>A low bias model will closely match the training data set.</a:t>
            </a:r>
          </a:p>
          <a:p>
            <a:pPr fontAlgn="base"/>
            <a:r>
              <a:rPr lang="en-US" dirty="0"/>
              <a:t>Characteristics of a high bias model include:</a:t>
            </a:r>
          </a:p>
          <a:p>
            <a:pPr lvl="1" fontAlgn="base"/>
            <a:r>
              <a:rPr lang="en-US" dirty="0"/>
              <a:t>Failure to capture proper data trends</a:t>
            </a:r>
          </a:p>
          <a:p>
            <a:pPr lvl="1" fontAlgn="base"/>
            <a:r>
              <a:rPr lang="en-US" dirty="0"/>
              <a:t>Potential towards </a:t>
            </a:r>
            <a:r>
              <a:rPr lang="en-US" dirty="0" err="1"/>
              <a:t>underfitting</a:t>
            </a:r>
            <a:endParaRPr lang="en-US" dirty="0"/>
          </a:p>
          <a:p>
            <a:pPr lvl="1" fontAlgn="base"/>
            <a:r>
              <a:rPr lang="en-US" dirty="0"/>
              <a:t>More generalized/overly simplified</a:t>
            </a:r>
          </a:p>
          <a:p>
            <a:pPr lvl="1" fontAlgn="base"/>
            <a:r>
              <a:rPr lang="en-US" dirty="0"/>
              <a:t>High error rate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694" y="5329238"/>
            <a:ext cx="36861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0666"/>
          </a:xfrm>
        </p:spPr>
        <p:txBody>
          <a:bodyPr>
            <a:normAutofit/>
          </a:bodyPr>
          <a:lstStyle/>
          <a:p>
            <a:r>
              <a:rPr lang="en-US" dirty="0"/>
              <a:t>changes in the model when using different portions of the training data </a:t>
            </a:r>
            <a:r>
              <a:rPr lang="en-US" dirty="0" smtClean="0"/>
              <a:t>set</a:t>
            </a:r>
          </a:p>
          <a:p>
            <a:r>
              <a:rPr lang="en-US" dirty="0" smtClean="0"/>
              <a:t>the expected value of the square of the difference between predicted values and the expected value of the predicted values.</a:t>
            </a:r>
          </a:p>
          <a:p>
            <a:r>
              <a:rPr lang="en-US" b="1" dirty="0" smtClean="0"/>
              <a:t>Variance = E[(Y’ - E[Y’])^2], </a:t>
            </a:r>
            <a:r>
              <a:rPr lang="en-US" dirty="0" smtClean="0"/>
              <a:t>where Y is ground truth and Y’ is predicted value E[Y’] is the estimated value of predicted value.</a:t>
            </a:r>
          </a:p>
          <a:p>
            <a:r>
              <a:rPr lang="en-US" b="1" dirty="0"/>
              <a:t>Low variance</a:t>
            </a:r>
            <a:r>
              <a:rPr lang="en-US" b="1" dirty="0" smtClean="0"/>
              <a:t>:</a:t>
            </a:r>
          </a:p>
          <a:p>
            <a:pPr lvl="1"/>
            <a:r>
              <a:rPr lang="en-US" dirty="0"/>
              <a:t>model is less sensitive to changes in the training </a:t>
            </a:r>
            <a:r>
              <a:rPr lang="en-US" dirty="0" smtClean="0"/>
              <a:t>data</a:t>
            </a:r>
            <a:endParaRPr lang="en-US" dirty="0" smtClean="0"/>
          </a:p>
          <a:p>
            <a:r>
              <a:rPr lang="en-US" b="1" dirty="0"/>
              <a:t>High variance</a:t>
            </a:r>
            <a:r>
              <a:rPr lang="en-US" b="1" dirty="0" smtClean="0"/>
              <a:t>:</a:t>
            </a:r>
          </a:p>
          <a:p>
            <a:pPr lvl="1"/>
            <a:r>
              <a:rPr lang="en-US" dirty="0"/>
              <a:t>model is very sensitive to changes in the training </a:t>
            </a:r>
            <a:r>
              <a:rPr lang="en-US" dirty="0" smtClean="0"/>
              <a:t>data, overfitting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7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Combinations of </a:t>
            </a:r>
            <a:r>
              <a:rPr lang="en-US" dirty="0" smtClean="0"/>
              <a:t>Bias-Variance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5248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High Bias, Low Variance:</a:t>
            </a:r>
            <a:r>
              <a:rPr lang="en-US" dirty="0"/>
              <a:t> </a:t>
            </a:r>
            <a:endParaRPr lang="en-US" dirty="0" smtClean="0"/>
          </a:p>
          <a:p>
            <a:pPr lvl="1" fontAlgn="base"/>
            <a:r>
              <a:rPr lang="en-US" dirty="0" smtClean="0"/>
              <a:t>A </a:t>
            </a:r>
            <a:r>
              <a:rPr lang="en-US" dirty="0"/>
              <a:t>model with high bias and low variance is said to be </a:t>
            </a:r>
            <a:r>
              <a:rPr lang="en-US" dirty="0" err="1"/>
              <a:t>underfitting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High Variance, Low Bias: </a:t>
            </a:r>
            <a:endParaRPr lang="en-US" b="1" dirty="0" smtClean="0"/>
          </a:p>
          <a:p>
            <a:pPr lvl="1" fontAlgn="base"/>
            <a:r>
              <a:rPr lang="en-US" dirty="0" smtClean="0"/>
              <a:t>A </a:t>
            </a:r>
            <a:r>
              <a:rPr lang="en-US" dirty="0"/>
              <a:t>model with high variance and low bias is said to be overfitting.</a:t>
            </a:r>
          </a:p>
          <a:p>
            <a:pPr fontAlgn="base"/>
            <a:r>
              <a:rPr lang="en-US" b="1" dirty="0"/>
              <a:t>High-Bias, High-Variance</a:t>
            </a:r>
            <a:r>
              <a:rPr lang="en-US" b="1" dirty="0" smtClean="0"/>
              <a:t>:</a:t>
            </a:r>
          </a:p>
          <a:p>
            <a:pPr lvl="1" fontAlgn="base"/>
            <a:r>
              <a:rPr lang="en-US" dirty="0"/>
              <a:t>model is not able to capture the underlying patterns in the data (high bias</a:t>
            </a:r>
            <a:r>
              <a:rPr lang="en-US" dirty="0" smtClean="0"/>
              <a:t>)</a:t>
            </a:r>
          </a:p>
          <a:p>
            <a:pPr lvl="1" fontAlgn="base"/>
            <a:r>
              <a:rPr lang="en-US" dirty="0"/>
              <a:t>too sensitive to changes in the training data (high variance</a:t>
            </a:r>
            <a:r>
              <a:rPr lang="en-US" dirty="0" smtClean="0"/>
              <a:t>)</a:t>
            </a:r>
          </a:p>
          <a:p>
            <a:pPr fontAlgn="base"/>
            <a:r>
              <a:rPr lang="en-US" b="1" dirty="0"/>
              <a:t>Low Bias, Low Variance</a:t>
            </a:r>
            <a:r>
              <a:rPr lang="en-US" b="1" dirty="0" smtClean="0"/>
              <a:t>:</a:t>
            </a:r>
          </a:p>
          <a:p>
            <a:pPr lvl="1" fontAlgn="base"/>
            <a:r>
              <a:rPr lang="en-US" dirty="0"/>
              <a:t>able to capture the underlying patterns in the data (low bias</a:t>
            </a:r>
            <a:r>
              <a:rPr lang="en-US" dirty="0" smtClean="0"/>
              <a:t>)</a:t>
            </a:r>
          </a:p>
          <a:p>
            <a:pPr lvl="1" fontAlgn="base"/>
            <a:r>
              <a:rPr lang="en-US" dirty="0"/>
              <a:t>not too sensitive to changes in the training data (low variance)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483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Ways to Low Bias, Low 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55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Low Bias: Increase Complexity from capacity</a:t>
            </a:r>
          </a:p>
          <a:p>
            <a:r>
              <a:rPr lang="en-US" dirty="0" smtClean="0"/>
              <a:t>Low Variance</a:t>
            </a:r>
          </a:p>
          <a:p>
            <a:pPr lvl="1" fontAlgn="base"/>
            <a:r>
              <a:rPr lang="en-US" b="1" u="sng" dirty="0"/>
              <a:t>Cross-validation</a:t>
            </a:r>
            <a:r>
              <a:rPr lang="en-US" b="1" dirty="0"/>
              <a:t>:</a:t>
            </a:r>
            <a:r>
              <a:rPr lang="en-US" dirty="0"/>
              <a:t> By splitting the data into training and testing sets multiple </a:t>
            </a:r>
            <a:r>
              <a:rPr lang="en-US" dirty="0" smtClean="0"/>
              <a:t>times</a:t>
            </a:r>
          </a:p>
          <a:p>
            <a:pPr lvl="1" fontAlgn="base"/>
            <a:r>
              <a:rPr lang="en-US" b="1" u="sng" dirty="0" smtClean="0"/>
              <a:t>Feature </a:t>
            </a:r>
            <a:r>
              <a:rPr lang="en-US" b="1" u="sng" dirty="0"/>
              <a:t>selection:</a:t>
            </a:r>
            <a:r>
              <a:rPr lang="en-US" b="1" dirty="0"/>
              <a:t> </a:t>
            </a:r>
            <a:r>
              <a:rPr lang="en-US" dirty="0"/>
              <a:t>By choosing the only relevant </a:t>
            </a:r>
            <a:r>
              <a:rPr lang="en-US" dirty="0" smtClean="0"/>
              <a:t>feature</a:t>
            </a:r>
            <a:endParaRPr lang="en-US" dirty="0"/>
          </a:p>
          <a:p>
            <a:pPr lvl="1" fontAlgn="base"/>
            <a:r>
              <a:rPr lang="en-US" b="1" u="sng" dirty="0"/>
              <a:t>Regularization</a:t>
            </a:r>
            <a:r>
              <a:rPr lang="en-US" b="1" dirty="0"/>
              <a:t>:</a:t>
            </a:r>
            <a:r>
              <a:rPr lang="en-US" dirty="0"/>
              <a:t> We can use L1 or L2 regularization to reduce variance in machine learning models</a:t>
            </a:r>
          </a:p>
          <a:p>
            <a:pPr lvl="1" fontAlgn="base"/>
            <a:r>
              <a:rPr lang="en-US" b="1" u="sng" dirty="0"/>
              <a:t>Ensemble methods</a:t>
            </a:r>
            <a:r>
              <a:rPr lang="en-US" b="1" dirty="0"/>
              <a:t>:</a:t>
            </a:r>
            <a:r>
              <a:rPr lang="en-US" dirty="0"/>
              <a:t> It will combine multiple models to improve </a:t>
            </a:r>
            <a:r>
              <a:rPr lang="en-US" dirty="0" smtClean="0"/>
              <a:t>generalization</a:t>
            </a:r>
          </a:p>
          <a:p>
            <a:pPr lvl="2" fontAlgn="base"/>
            <a:r>
              <a:rPr lang="en-US" dirty="0" smtClean="0"/>
              <a:t>Bagging</a:t>
            </a:r>
            <a:r>
              <a:rPr lang="en-US" dirty="0"/>
              <a:t>, boosting, and </a:t>
            </a:r>
            <a:r>
              <a:rPr lang="en-US" dirty="0" smtClean="0"/>
              <a:t>stacking</a:t>
            </a:r>
            <a:endParaRPr lang="en-US" dirty="0"/>
          </a:p>
          <a:p>
            <a:pPr lvl="1" fontAlgn="base"/>
            <a:r>
              <a:rPr lang="en-US" b="1" u="sng" dirty="0"/>
              <a:t>Simplifying the model</a:t>
            </a:r>
            <a:r>
              <a:rPr lang="en-US" b="1" dirty="0"/>
              <a:t>: </a:t>
            </a:r>
            <a:r>
              <a:rPr lang="en-US" dirty="0"/>
              <a:t>Reducing the complexity of the model, such as decreasing the number of parameters or layers in a neural </a:t>
            </a:r>
            <a:r>
              <a:rPr lang="en-US" dirty="0" smtClean="0"/>
              <a:t>network</a:t>
            </a:r>
            <a:endParaRPr lang="en-US" dirty="0"/>
          </a:p>
          <a:p>
            <a:pPr lvl="1" fontAlgn="base"/>
            <a:r>
              <a:rPr lang="en-US" b="1" u="sng" dirty="0"/>
              <a:t>Early stopping</a:t>
            </a:r>
            <a:r>
              <a:rPr lang="en-US" b="1" dirty="0"/>
              <a:t>:</a:t>
            </a:r>
            <a:r>
              <a:rPr lang="en-US" dirty="0"/>
              <a:t> Early stopping is a technique used to prevent overfitting by stopping the training of the deep learning model when the performance on the validation set stops improving.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 fold vs LOO</a:t>
            </a:r>
            <a:endParaRPr lang="en-US" dirty="0"/>
          </a:p>
        </p:txBody>
      </p:sp>
      <p:pic>
        <p:nvPicPr>
          <p:cNvPr id="1026" name="Picture 2" descr="k-fold cross valid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8" y="1767609"/>
            <a:ext cx="5186235" cy="20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ave-one-out (LOO) cross-valid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011" y="2127033"/>
            <a:ext cx="5463789" cy="418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45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Validation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800"/>
            <a:ext cx="10651836" cy="485616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Develop </a:t>
            </a:r>
            <a:r>
              <a:rPr lang="en-US" dirty="0"/>
              <a:t>prediction model in the </a:t>
            </a:r>
            <a:r>
              <a:rPr lang="en-US" dirty="0" smtClean="0"/>
              <a:t>original data =&gt; Apparent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Generate </a:t>
            </a:r>
            <a:r>
              <a:rPr lang="en-US" dirty="0"/>
              <a:t>a bootstrap sample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Develop </a:t>
            </a:r>
            <a:r>
              <a:rPr lang="en-US" dirty="0"/>
              <a:t>a model using the bootstrap </a:t>
            </a:r>
            <a:r>
              <a:rPr lang="en-US" dirty="0" smtClean="0"/>
              <a:t>sample, </a:t>
            </a:r>
            <a:r>
              <a:rPr lang="en-US" dirty="0"/>
              <a:t>determining the apparent </a:t>
            </a:r>
            <a:r>
              <a:rPr lang="en-US" dirty="0" smtClean="0"/>
              <a:t>performance </a:t>
            </a:r>
            <a:r>
              <a:rPr lang="en-US" dirty="0"/>
              <a:t>of the model on the </a:t>
            </a:r>
            <a:r>
              <a:rPr lang="en-US" dirty="0" smtClean="0"/>
              <a:t>bootstrap </a:t>
            </a:r>
            <a:r>
              <a:rPr lang="en-US" dirty="0"/>
              <a:t>sample and the test performance of the bootstrap model in the original sample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Calculate </a:t>
            </a:r>
            <a:r>
              <a:rPr lang="en-US" dirty="0"/>
              <a:t>the optimism as the difference between the bootstrap performance and </a:t>
            </a:r>
            <a:r>
              <a:rPr lang="en-US" dirty="0" smtClean="0"/>
              <a:t>test performance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Repeat </a:t>
            </a:r>
            <a:r>
              <a:rPr lang="en-US" dirty="0"/>
              <a:t>steps 2 through </a:t>
            </a:r>
            <a:r>
              <a:rPr lang="en-US" dirty="0" smtClean="0"/>
              <a:t>4, </a:t>
            </a:r>
            <a:r>
              <a:rPr lang="en-US" dirty="0"/>
              <a:t>n</a:t>
            </a:r>
            <a:r>
              <a:rPr lang="en-US" dirty="0" smtClean="0"/>
              <a:t> </a:t>
            </a:r>
            <a:r>
              <a:rPr lang="en-US" dirty="0"/>
              <a:t>times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Average </a:t>
            </a:r>
            <a:r>
              <a:rPr lang="en-US" dirty="0"/>
              <a:t>the </a:t>
            </a:r>
            <a:r>
              <a:rPr lang="en-US" dirty="0" smtClean="0"/>
              <a:t>estimates </a:t>
            </a:r>
            <a:r>
              <a:rPr lang="en-US" dirty="0"/>
              <a:t>of </a:t>
            </a:r>
            <a:r>
              <a:rPr lang="en-US" dirty="0" smtClean="0"/>
              <a:t>optimism </a:t>
            </a:r>
            <a:r>
              <a:rPr lang="en-US" dirty="0"/>
              <a:t>in step 5, and </a:t>
            </a:r>
            <a:r>
              <a:rPr lang="en-US" dirty="0" smtClean="0"/>
              <a:t>subtract </a:t>
            </a:r>
            <a:r>
              <a:rPr lang="en-US" dirty="0"/>
              <a:t>the value from the apparent performance obtained in step 1 to obtain the optimism-corrected estimate of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37037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516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Bias and Variance K fold VS LOO Bootstrap steps</vt:lpstr>
      <vt:lpstr>Bias</vt:lpstr>
      <vt:lpstr>Variance</vt:lpstr>
      <vt:lpstr>Different Combinations of Bias-Variance</vt:lpstr>
      <vt:lpstr>Ways to Low Bias, Low Variance</vt:lpstr>
      <vt:lpstr>K fold vs LOO</vt:lpstr>
      <vt:lpstr>Bootstrap Validation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 and Variance</dc:title>
  <dc:creator>Sandip</dc:creator>
  <cp:lastModifiedBy>Sandip</cp:lastModifiedBy>
  <cp:revision>10</cp:revision>
  <dcterms:created xsi:type="dcterms:W3CDTF">2023-12-31T08:20:14Z</dcterms:created>
  <dcterms:modified xsi:type="dcterms:W3CDTF">2024-01-07T12:35:45Z</dcterms:modified>
</cp:coreProperties>
</file>